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D97706"/>
                </a:solidFill>
              </a:defRPr>
            </a:pPr>
            <a:r>
              <a:t>HiveIQ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Smart Honey Hive Tracking &amp; Production Analytics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</a:defRPr>
            </a:pPr>
            <a:r>
              <a:t>A Real-Time Data Science Project Integrating FAOSTAT Global Analytics &amp; Client-Side Machine Learning</a:t>
            </a:r>
          </a:p>
          <a:p>
            <a:pPr>
              <a:spcBef>
                <a:spcPts val="2600"/>
              </a:spcBef>
              <a:defRPr sz="1300">
                <a:solidFill>
                  <a:srgbClr val="F8FAFC"/>
                </a:solidFill>
              </a:defRPr>
            </a:pPr>
            <a:r>
              <a:t>Submitted by: ALIT ROSE M M (Reg. No: URK23CS2024)</a:t>
            </a:r>
            <a:br/>
            <a:r>
              <a:t>Course: 23CS2024 — Data Science Ecosystem | V Semester B.Tech CSE</a:t>
            </a:r>
            <a:br/>
            <a:r>
              <a:t>Division of Computer Science &amp; Engineering | School of Computer Science &amp; Technology</a:t>
            </a:r>
            <a:br/>
            <a:r>
              <a:t>Karunya Institute of Technology and Sciences, Coimbatore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Project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1. The Core Challenges in Apiculture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Volatile Harvests: Honey production fluctuates widely year-over-year due to climate volatility and floral nectar shifts.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Colony Mortality: Hive diseases (Varroa mites, fungal chalkbrood) and brood hypothermia cause devastating losses if unmonitored.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Information Divide: Beekeepers have no simple tool combining local hive sensor tracking with national-scale predictive forecasting.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2. The HiveIQ Solution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End-to-End Pipeline: Harnesses 64 years of United Nations FAOSTAT honey data (9,601 records) for machine learning.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Dual-Scale Capability: Macro-level country production forecasting + Micro-level individual hive inspection tracking.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100% Client-Side In-Browser ML: Zero cloud dependency; models execute in vanilla JavaScript via exported model.json.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Screening Advisory: Automated heuristics for core hive temperature (33–36°C) and humidity (50–65%).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Primary &amp; Supplementary Datasets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UN FAOSTAT Global Honey Dataset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Source: Food and Agriculture Organization of the United Nations (FAOSTAT).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Total Records: 9,601 rows spanning 1961 to 2024 (64 continuous years).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Coverage: 180 geographical entities.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Data Cleaning: Separated 23 macro-regional groupings (World, Asia, Europe) from 157 sovereign nations (8,129 country records).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Completeness: Zero missing values in production volume (metric tonnes).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Local Hive Telemetry &amp; Demographics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Hive Registry: Records Hive ID, apiary location, installation date, hive type (Langstroth vs Top-bar), and colony status.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Simulated Demo Sensors: Core temperature (°C), relative humidity (%), brood pattern health, and pest signs.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Scientific Honesty: 10 starter records are synthetic demo data used for UI and screening validation, clearly tagged [DEMO].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Persistence: Maintained securely in browser localStorage without external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Two-Tier System Architecture &amp; Pipeline</a:t>
            </a:r>
          </a:p>
        </p:txBody>
      </p:sp>
      <p:pic>
        <p:nvPicPr>
          <p:cNvPr id="3" name="Picture 2" descr="HiveIQ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Feature Engineering &amp; Leak-Free Time Split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Autoregressive Feature Engineering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prod_lag1: Production in previous year (t - 1)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prod_lag2: Production two years prior (t - 2)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prod_lag3: Production three years prior (t - 3)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prod_roll_mean3: 3-Year historical moving average (t-1, t-2, t-3)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prod_diff_1: 1-Year momentum trend (lag1 - lag2)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growth_target: Binary classification target (1 if yield increased vs previous year, else 0).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Clean Modeling Samples: 7,658 country-years (55.8% Growth vs 44.2% Decline/Stable).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Time-Aware Chronological Split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No Future Data Leakage: Standard random train_test_split leaks future agricultural cycles into past predictions.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Chronological Partitioning at Year 2015: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• Training Partition: 1964 to 2014 -&gt; 6,263 samples (81.8%)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• Held-Out Test Partition: 2015 to 2024 -&gt; 1,395 samples (18.2%)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StandardScaler Standardization: Fitted strictly on training data (preventing statistical data snooping).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Task 1: Continuous Production Forecasting (Regression)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Model Comparison &amp; Metrics (Test Data: 2015-2024)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Linear Regression (Ordinary Least Squares):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Mean Absolute Error (MAE): 2,350.33 tonnes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Root Mean Squared Error (RMSE): 9,296.05 tonnes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R² Score (Variance Explained): 0.9801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K-Nearest Neighbors Regressor (k=5):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Mean Absolute Error (MAE): 2,896.79 tonnes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Root Mean Squared Error (RMSE): 12,460.96 tonnes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R² Score (Variance Explained): 0.9643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Selected Best Model: Linear Regression (lower error &amp; O(1) browser inference).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Why is R² ~ 0.98? (Viva Defense)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Agricultural Autocorrelation: A nation harvesting 70,000 tonnes of honey does not suddenly drop to 200 tonnes next year without complete ecological collapse.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Inertia Capture: The 3-year lags and rolling average accurately capture the national baseline scale.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Honest Limitation: The model captures macro momentum, but cannot predict sudden drought or disease outbreaks without real-time microclimate sensors.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Task 2: Annual Growth vs Decline Classification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Classification Benchmark Results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Logistic Regression (L2 Regularized):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Accuracy: 61.22%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Precision (Growth Class): 60.77%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Recall (Growth Sensitivity): 98.92%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Balanced F1-Score: 0.7529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K-Nearest Neighbors Classifier (k=5):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Accuracy: 56.99%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Precision: 63.75%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Recall: 64.83%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Balanced F1-Score: 0.6429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Selected Best Model: Logistic Regression (higher F1 and direct sigmoid probability).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Understanding Recall vs Precision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High Recall (98.92%): Captures virtually all positive harvest growth cycles, crucial for supply chain planning.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Moderate Precision (60.77%): Historical data has a slight growth bias (55.8%). The linear decision boundary is slightly optimistic on borderline flat years.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Academic Rigor: We report Accuracy, Precision, Recall, and F1-score rather than relying on accuracy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Task 3: Unsupervised Country Profile Clustering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K-Means Silhouette Score Evaluation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Clustering Features: Mean production, peak yield, standard deviation (stability), and recent production volume.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Silhouette Analysis Across k: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k = 2: Silhouette = 0.8971 (Too coarse; only splits China vs rest of world)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k = 3: Silhouette = 0.8651 (SELECTED: Highest domain interpretability)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k = 4: Silhouette = 0.8243 (Fragments commercial nations arbitrarily)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k = 5: Silhouette = 0.8247 (Decreased cohesion without new insight)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The 3 Global Production Tiers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Tier 1: Global Mega-Producers (1 Nation)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China (&gt;400,000 tonnes/year)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Tier 2: Commercial / Regional Majors (~18 Nations)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India, Turkey, USA, Argentina, Mexico, Ukraine (20,000 – 100,000 tonnes/year)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Tier 3: Small / Artisanal Producers (137 Nations)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Emerging and artisanal beekeeping countries (&lt;15,000 tonnes/year)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Client-Side In-Browser Machine Learning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The model.json Bridge (61.7 KB)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Zero Backend Latency: No Python or Flask/FastAPI server required during deployment.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Embedded Parameters: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Scaler Means &amp; Scales for 5 features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Linear Regression Intercept &amp; 5 Weights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Logistic Regression Intercept &amp; 5 Weights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K-Means 3 Centroids &amp; Complete 156 Country Catalog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156 Country Prototype Vectors for instant Euclidean nearest neighbor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Client-Side Mathematical Execution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Linear Regression in JS: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Y = max(0, Intercept + sum(w[i] * scaled_x[i]))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Logistic Growth Sigmoid in JS: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z = Intercept + sum(w[i] * scaled_x[i])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P(Growth) = 1 / (1 + exp(-z))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KNN Search in JS: Computes Euclidean distance to 156 countries in &lt;1 ms, sorting the 5 nearest peers.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Beekeeper Telemetry &amp; Heuristic Screening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Biological Microclimate Benchmarks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Brood Nest Core Temperature: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Normal Optimal: 33.0°C – 36.0°C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Below 32.0°C: Brood hypothermic chilling risk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Above 36.5°C: Comb wax softening and heat stress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Internal Relative Humidity: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Normal Optimal: 50% – 65%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Above 68%: Severe risk of chalkbrood fungal spores (Ascosphaera apis) and Nosema.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Local Tracking &amp; History Management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Inspection Logging: Tracks Hive ID, inspection date, core temp, humidity, brood pattern, pest signs, and harvested yield.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Real-Time Heuristic Alerts: Live warning and danger callouts appear dynamically as sensor readings are entered.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Persistent Privacy: Data is saved to browser localStorage; nothing leaves the beekeeper's device.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Ground Truth Validation: Users enter actual harvested yield to monitor prediction accuracy and aggregate MAE.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Systematic Testing &amp; Cross-Engine Parity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Automated Test Suite (Python vs. JavaScript Equivalence)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Case 1 (India Preset): Colab = 75,569.8 t | JS = 75,569.8 t (diff: 0.022 t) -&gt; PASSED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Case 2 (Turkey Preset): Colab = 106,907.6 t | JS = 106,907.6 t (diff: 0.015 t) -&gt; PASSED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Case 3 (USA Preset): Colab = 71,428.9 t | JS = 71,428.9 t (diff: 0.013 t) -&gt; PASSED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Case 4 (Declining Producer): Colab = 23,314.5 t | JS = 23,314.5 t (diff: 0.010 t) -&gt; PASSED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Case 5 (Small Artisanal): Colab = 436.1 t | JS = 436.1 t (diff: 0.038 t) -&gt; PASSED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Case 6 (China Mega-Producer): Colab = 462,063.7 t | JS = 462,063.7 t (diff: 0.014 t) -&gt; PASSED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Boundary Tests: (0, 0, 0) inputs correctly guarded to 0.0 tonnes; Sensor alerts trigger accurately; localStorage persists across restarts.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Live Demonstration Walkthrough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Demo Persona: Priya Nair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Role: Apiary Operations Coordinator, Western Ghats Honey Cooperative (Coimbatore).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Goal: Monitor microclimate across 5 hive stations and forecast seasonal production volume.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Step 1: Dashboard -&gt; Review 64-year global trend and active model cards.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Step 2: Hive Tracker -&gt; Log HIVE-003 at 37.2°C &amp; 67% humidity -&gt; Trigger Overheating &amp; Chalkbrood Alerts.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Yield Forecasting &amp; Ground Truth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Step 3: ML Predictor -&gt; Select India preset (74k, 71k, 67.5k t) -&gt; Execute Models in JS: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Linear Reg: 75,570 Tonnes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Logistic Reg: Positive Growth (59.0%)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  • Nearest Peers: Iran, Brazil, USA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Step 4: Save to History -&gt; Switch to My Records -&gt; Click + Enter Actual -&gt; Enter 74,500 t -&gt; Auto-compute error (+1,070 t).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Step 5: Export CSV -&gt; Download persistent prediction log.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Academic Limitations &amp; Challenges Faced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Honest Technical Limitations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Screening Nature: HiveIQ is an advisory decision-support tool, not a definitive agronomic diagnosis or financial guarantee.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Macro Autoregression Limits: Models capture temporal momentum well, but cannot anticipate sudden localized weather catastrophes or pesticide poisoning without physical sensors.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Simulated Demo Sensors: The 10 starter hive logs are synthetic records for UI/screening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Engineering Challenges Solved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Eliminating Data Leakage: Replaced standard random train_test_split with strict chronological partitioning at year 2015.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Zero-Server Deployment: Serialized complex scikit-learn models into model.json to achieve sub-millisecond execution in pure vanilla JavaScript.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Cross-Platform Parity: Verified that JavaScript matrix dot products match Python outputs within 0.04 tonnes.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HIVIQ: DATA SCIENCE ECOSYSTEM (23CS2024)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Project Achievements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Complete Data Science Lifecycle: Data ingestion, feature engineering, leak-free validation, and model comparison in Google Colab.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Production-Ready Deployment: Standalone responsive web application hosted free on GitHub Pages.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Multi-Algorithm Ecosystem: Evaluated Linear Regression, Logistic Regression, KNN Regressor/Classifier, and K-Means Clustering.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Full Academic Documentation: Complete report, architecture diagram, and test suite.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Future Road Map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Physical IoT Hardware: ESP32 microcontroller with HX711 hive scales and digital thermistors for automated telemetry ingestion.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Satellite Remote Sensing: Integration of Sentinel-2 NDVI imagery to monitor floral blooming corridor indices.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• Deep Learning Time Series: Recurrent Neural Networks (LSTM / GRU) as daily microclimate sensor data becomes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97706"/>
                </a:solidFill>
              </a:defRPr>
            </a:pPr>
            <a:r>
              <a:t>Thank You! Questions &amp; Discussion</a:t>
            </a:r>
          </a:p>
          <a:p>
            <a:pPr>
              <a:spcBef>
                <a:spcPts val="800"/>
              </a:spcBef>
              <a:defRPr sz="2200" b="1">
                <a:solidFill>
                  <a:srgbClr val="F8FAFC"/>
                </a:solidFill>
              </a:defRPr>
            </a:pPr>
            <a:r>
              <a:t>HiveIQ — Smart Honey Hive Tracking &amp; Production Analytics</a:t>
            </a:r>
          </a:p>
          <a:p>
            <a:pPr>
              <a:spcBef>
                <a:spcPts val="1800"/>
              </a:spcBef>
              <a:defRPr sz="1400">
                <a:solidFill>
                  <a:srgbClr val="94A3B8"/>
                </a:solidFill>
              </a:defRPr>
            </a:pPr>
            <a:r>
              <a:t>Live Web App: https://alitrose.github.io/HiveIQ/</a:t>
            </a:r>
            <a:br/>
            <a:r>
              <a:t>Google Colab: https://colab.research.google.com/github/alitrose/HiveIQ/blob/main/HiveIQ_Course_Project_Colab.ipynb</a:t>
            </a:r>
            <a:br/>
            <a:r>
              <a:t>GitHub Repository: https://github.com/alitrose/HiveIQ</a:t>
            </a:r>
            <a:br/>
            <a:br/>
            <a:r>
              <a:t>ALIT ROSE M M | Reg. No: URK23CS2024</a:t>
            </a:r>
            <a:br/>
            <a:r>
              <a:t>Karunya Institute of Technology and Sciences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